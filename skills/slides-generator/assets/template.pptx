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s01 — A line is length without breadth.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1. Крупный заголовок с засечками, подпись сверху и короткая красная линия. Демонстрирует исходный титульный слайд.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s02 — The extremities of a surface are lines.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2. Центрированное утверждение красным цветом на кремовом фоне. Композиция подходит для одного короткого тезиса.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s03 — Equal circles are those whose diameters are equal.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3. Слева расположена основная мысль, справа — нумерованная повестка. Колонки разделены тонкой вертикальной линией.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s04 — Ratio is the relation which one quantity bears to another of the same kind.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4. Заголовок и пояснение расположены в левой части с большим свободным пространством. Композиция сохраняет исходную редакционную сетку.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s05 — A surface is that which has length and breadth only.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5. Текстовый блок слева дополнен двумя пустыми светлыми панелями справа. Панели сохранены как в исходнике и не содержат данных.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s06 — A plane surface is that which lies evenly between its extremities.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6. Заголовок и описание слева соседствуют с одной светлой панелью справа. Демонстрирует оригинальную двухколоночную композицию.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s07 — Before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7. Два поля до и после разделены вертикальной линией. Светлые панели в исходном шаблоне пусты.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s08 — section name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8. Небольшая подпись отделена горизонтальной линией от большой светлой панели. Область содержимого оставлена пустой, как в источнике.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s09 — section name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9. Серая фоновая композиция с белой подписью. Демонстрирует исходную альтернативную поверхность, а не изменение основной палитры.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s10 — section name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10. Цитата и атрибуция центрированы и выделены красным. Текст цитаты является заполнителем, а не реальным свидетельством.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s11 — section name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11. Красная цитата занимает левую колонку, справа оставлена светлая панель. Сохраняются исходные размеры цитаты и отступы.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s12 — An obtuse angle is an angle greater than a right angle.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12. Основная мысль и описание слева дополнены синей цитатой справа. Атрибуция цитаты в демонстрации условная.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s13 — An acute angle is less</a:t>
            </a:r>
          </a:p>
          <a:p>
            <a:r>
              <a:t>than a right angle.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13. Один текстовый блок сопоставлен с двумя цитатами в правой колонке. Верхняя цитата синяя, нижняя красная.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s14 — A figure is a surface enclosed on all sides by a line or lines.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14. Текст слева дополнен светлой панелью и синей цитатой справа. Перегородки и пропорции сохранены из источника.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s15 — Timeline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15. Таймлайн воспроизводит исходные полосы, подписи и цвета. Позиции полос демонстрационные и не являются планом реального проекта.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s16 — The extremities of a surface are lines.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16. Слева расположен основной текст, справа — три крупных показателя. Все числа взяты из образца и не являются проверенными фактами.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s17 — Pros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17. Две нумерованные колонки сопоставляют преимущества и недостатки. Цветовые подписи и разделитель сохранены из исходника.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s18 — A triangle whose three sides are equal, is said to be equilateral.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18. Текст слева дополнен списком с двумя отмеченными и тремя пустыми индикаторами. Состояния списка демонстрационные, не отчёт о выполнении.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Перейдём к следующей композиции шаблона.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— source-layout example, not approved.</a:t>
            </a:r>
          </a:p>
          <a:p/>
          <a:p>
            <a:r>
              <a:t>PLACEHOLDER / ПРИМЕР — не утверждено; не фактические данные.</a:t>
            </a:r>
          </a:p>
          <a:p/>
          <a:p>
            <a:r>
              <a:t>Design credit (not a research source):</a:t>
            </a:r>
          </a:p>
          <a:p>
            <a:r>
              <a:t>Adapted from “Euclidean” by Nicholas Jitkoff, https://www.figma.com/community/file/1387141600584938870/euclidean ; CC BY 4.0 https://creativecommons.org/licenses/by/4.0/ ; adapted to editable PowerPoint.</a:t>
            </a:r>
          </a:p>
          <a:p/>
          <a:p>
            <a:r>
              <a:t>s19 — Q. E. D.</a:t>
            </a:r>
          </a:p>
          <a:p>
            <a:r>
              <a:t>Language / Язык: ru</a:t>
            </a:r>
          </a:p>
          <a:p>
            <a:r>
              <a:t>Audience / Аудитория: Просмотр дизайна; не содержательная презентация</a:t>
            </a:r>
          </a:p>
          <a:p>
            <a:r>
              <a:t>Timing / Время: 30 seconds</a:t>
            </a:r>
          </a:p>
          <a:p/>
          <a:p>
            <a:r>
              <a:t>Speech / Речь:</a:t>
            </a:r>
          </a:p>
          <a:p>
            <a:r>
              <a:t>Демонстрационный шаблон Euclidean, слайд 19. Крупное заключение центрировано на кремовом фоне. Исходная подпись сверху сохранена для просмотра дизайна. Это просмотр оформления: исходные подписи, даты, цитаты и показатели не предназначены для использования как факты. Для рабочей презентации требуется отдельное исследование и утверждённое оглавление.</a:t>
            </a:r>
          </a:p>
          <a:p/>
          <a:p>
            <a:r>
              <a:t>Transition / Переход:</a:t>
            </a:r>
          </a:p>
          <a:p>
            <a:r>
              <a:t>—</a:t>
            </a:r>
          </a:p>
          <a:p/>
          <a:p>
            <a:r>
              <a:t>Sources / Источники:</a:t>
            </a:r>
          </a:p>
          <a:p>
            <a:r>
              <a:t>— (no references supplied)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35" descr="26 JUNE 2024"/>
          <p:cNvSpPr txBox="1"/>
          <p:nvPr/>
        </p:nvSpPr>
        <p:spPr>
          <a:xfrm>
            <a:off x="635000" y="508000"/>
            <a:ext cx="10350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26 JUNE 2024</a:t>
            </a:r>
          </a:p>
        </p:txBody>
      </p:sp>
      <p:sp>
        <p:nvSpPr>
          <p:cNvPr id="3" name="n236" descr="A line is length without breadth."/>
          <p:cNvSpPr txBox="1"/>
          <p:nvPr/>
        </p:nvSpPr>
        <p:spPr>
          <a:xfrm>
            <a:off x="635000" y="2362200"/>
            <a:ext cx="8274050" cy="2133600"/>
          </a:xfrm>
          <a:prstGeom prst="rect">
            <a:avLst/>
          </a:prstGeom>
          <a:noFill/>
          <a:effectLst/>
        </p:spPr>
        <p:txBody>
          <a:bodyPr wrap="none" anchor="t" lIns="0" rIns="0" bIns="0" tIns="-129794" vertOverflow="overflow" horzOverflow="overflow">
            <a:noAutofit/>
          </a:bodyPr>
          <a:lstStyle/>
          <a:p>
            <a:pPr algn="l" marL="0">
              <a:lnSpc>
                <a:spcPts val="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0" b="0" i="0" spc="0" kern="0" lang="ru">
                <a:solidFill>
                  <a:srgbClr val="16161D"/>
                </a:solidFill>
                <a:latin typeface="Source Serif Pro"/>
                <a:ea typeface="Source Serif Pro"/>
                <a:cs typeface="Source Serif Pro"/>
              </a:rPr>
              <a:t>A line is length</a:t>
            </a:r>
          </a:p>
          <a:p>
            <a:pPr algn="l" marL="0">
              <a:lnSpc>
                <a:spcPts val="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0" b="0" i="0" spc="0" kern="0" lang="ru">
                <a:solidFill>
                  <a:srgbClr val="16161D"/>
                </a:solidFill>
                <a:latin typeface="Source Serif Pro"/>
                <a:ea typeface="Source Serif Pro"/>
                <a:cs typeface="Source Serif Pro"/>
              </a:rPr>
              <a:t>without breadth.</a:t>
            </a:r>
          </a:p>
        </p:txBody>
      </p:sp>
      <p:cxnSp>
        <p:nvCxnSpPr>
          <p:cNvPr id="4" name="n237"/>
          <p:cNvCxnSpPr/>
          <p:nvPr/>
        </p:nvCxnSpPr>
        <p:spPr>
          <a:xfrm>
            <a:off x="635000" y="4927600"/>
            <a:ext cx="1701800" cy="0"/>
          </a:xfrm>
          <a:prstGeom prst="line">
            <a:avLst/>
          </a:prstGeom>
          <a:ln w="19050">
            <a:solidFill>
              <a:srgbClr val="D42A20"/>
            </a:solidFill>
          </a:ln>
          <a:effectLst/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40" descr="26 JUNE 2024"/>
          <p:cNvSpPr txBox="1"/>
          <p:nvPr/>
        </p:nvSpPr>
        <p:spPr>
          <a:xfrm>
            <a:off x="635000" y="508000"/>
            <a:ext cx="10350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00000"/>
                </a:solidFill>
                <a:latin typeface="Source Sans Pro Semibold"/>
                <a:ea typeface="Source Sans Pro Semibold"/>
                <a:cs typeface="Source Sans Pro Semibold"/>
              </a:rPr>
              <a:t>26 JUNE 2024</a:t>
            </a:r>
          </a:p>
        </p:txBody>
      </p:sp>
      <p:sp>
        <p:nvSpPr>
          <p:cNvPr id="3" name="n241" descr="The extremities of a surface are lines."/>
          <p:cNvSpPr txBox="1"/>
          <p:nvPr/>
        </p:nvSpPr>
        <p:spPr>
          <a:xfrm>
            <a:off x="1962150" y="3168650"/>
            <a:ext cx="8274050" cy="52705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ctr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The extremities of a surface are 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n24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FCF7E9"/>
            </a:solidFill>
          </a:ln>
          <a:effectLst/>
        </p:spPr>
      </p:cxnSp>
      <p:sp>
        <p:nvSpPr>
          <p:cNvPr id="3" name="n245" descr="AGENDA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AGENDA</a:t>
            </a:r>
          </a:p>
        </p:txBody>
      </p:sp>
      <p:sp>
        <p:nvSpPr>
          <p:cNvPr id="4" name="n246" descr="Equal circles are those whose diameters are equal."/>
          <p:cNvSpPr txBox="1"/>
          <p:nvPr/>
        </p:nvSpPr>
        <p:spPr>
          <a:xfrm>
            <a:off x="635000" y="2901950"/>
            <a:ext cx="4826000" cy="105410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Equal circles are those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whose diameters are equal.</a:t>
            </a:r>
          </a:p>
        </p:txBody>
      </p:sp>
      <p:sp>
        <p:nvSpPr>
          <p:cNvPr id="5" name="n247" descr="Refresher on problem statement&#10;Update on metrics&#10;Review design proposal&#10;Align on GTM"/>
          <p:cNvSpPr txBox="1"/>
          <p:nvPr/>
        </p:nvSpPr>
        <p:spPr>
          <a:xfrm>
            <a:off x="6731000" y="2374900"/>
            <a:ext cx="4762500" cy="210820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1"/>
            </a:pPr>
            <a:r>
              <a:rPr sz="2100" b="0" i="0" spc="0" kern="0" lang="ru">
                <a:solidFill>
                  <a:srgbClr val="16161D"/>
                </a:solidFill>
                <a:latin typeface="Source Sans Pro"/>
                <a:ea typeface="Source Sans Pro"/>
                <a:cs typeface="Source Sans Pro"/>
              </a:rPr>
              <a:t>Refresher on problem statement</a:t>
            </a:r>
          </a:p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2"/>
            </a:pPr>
            <a:r>
              <a:rPr sz="2100" b="0" i="0" spc="0" kern="0" lang="ru">
                <a:solidFill>
                  <a:srgbClr val="16161D"/>
                </a:solidFill>
                <a:latin typeface="Source Sans Pro"/>
                <a:ea typeface="Source Sans Pro"/>
                <a:cs typeface="Source Sans Pro"/>
              </a:rPr>
              <a:t>Update on metrics</a:t>
            </a:r>
          </a:p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3"/>
            </a:pPr>
            <a:r>
              <a:rPr sz="2100" b="0" i="0" spc="0" kern="0" lang="ru">
                <a:solidFill>
                  <a:srgbClr val="16161D"/>
                </a:solidFill>
                <a:latin typeface="Source Sans Pro"/>
                <a:ea typeface="Source Sans Pro"/>
                <a:cs typeface="Source Sans Pro"/>
              </a:rPr>
              <a:t>Review design proposal</a:t>
            </a:r>
          </a:p>
          <a:p>
            <a:pPr algn="l" marL="400050" indent="-287882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Font typeface="Source Sans Pro"/>
              <a:buAutoNum type="arabicPeriod" startAt="4"/>
            </a:pPr>
            <a:r>
              <a:rPr sz="2100" b="0" i="0" spc="0" kern="0" lang="ru">
                <a:solidFill>
                  <a:srgbClr val="16161D"/>
                </a:solidFill>
                <a:latin typeface="Source Sans Pro"/>
                <a:ea typeface="Source Sans Pro"/>
                <a:cs typeface="Source Sans Pro"/>
              </a:rPr>
              <a:t>Align on GTM</a:t>
            </a:r>
          </a:p>
        </p:txBody>
      </p:sp>
      <p:cxnSp>
        <p:nvCxnSpPr>
          <p:cNvPr id="6" name="n248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51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3" name="n253" descr="Ratio is the relation which one quantity bears to another of the same kind."/>
          <p:cNvSpPr txBox="1"/>
          <p:nvPr/>
        </p:nvSpPr>
        <p:spPr>
          <a:xfrm>
            <a:off x="635000" y="2085975"/>
            <a:ext cx="5740400" cy="158115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Ratio is the relation which one</a:t>
            </a:r>
          </a:p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quantity bears to another of the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same kind.</a:t>
            </a:r>
          </a:p>
        </p:txBody>
      </p:sp>
      <p:sp>
        <p:nvSpPr>
          <p:cNvPr id="4" name="n254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857625"/>
            <a:ext cx="5740400" cy="9144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 provide extra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context or nuance to slides. A good description ensures slides can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be consumed async without a live presentation.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57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3" name="n259" descr="A surface is that which has length and breadth only."/>
          <p:cNvSpPr txBox="1"/>
          <p:nvPr/>
        </p:nvSpPr>
        <p:spPr>
          <a:xfrm>
            <a:off x="635000" y="2197100"/>
            <a:ext cx="4826000" cy="105410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A surface is that which has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length and breadth only.</a:t>
            </a:r>
          </a:p>
        </p:txBody>
      </p:sp>
      <p:sp>
        <p:nvSpPr>
          <p:cNvPr id="4" name="n260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441700"/>
            <a:ext cx="4826000" cy="12192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provide extra context or nuance to slides. A good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description ensures slides can be consumed async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without a live presentation.</a:t>
            </a:r>
          </a:p>
        </p:txBody>
      </p:sp>
      <p:sp>
        <p:nvSpPr>
          <p:cNvPr id="5" name="n261"/>
          <p:cNvSpPr/>
          <p:nvPr/>
        </p:nvSpPr>
        <p:spPr>
          <a:xfrm>
            <a:off x="6096000" y="12700"/>
            <a:ext cx="6096000" cy="342900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n262"/>
          <p:cNvSpPr/>
          <p:nvPr/>
        </p:nvSpPr>
        <p:spPr>
          <a:xfrm>
            <a:off x="6096000" y="3441700"/>
            <a:ext cx="6096000" cy="342900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n263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  <p:cxnSp>
        <p:nvCxnSpPr>
          <p:cNvPr id="8" name="n264"/>
          <p:cNvCxnSpPr/>
          <p:nvPr/>
        </p:nvCxnSpPr>
        <p:spPr>
          <a:xfrm>
            <a:off x="6096000" y="3429000"/>
            <a:ext cx="6096000" cy="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67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3" name="n269" descr="A plane surface is that which lies evenly between its extremities."/>
          <p:cNvSpPr txBox="1"/>
          <p:nvPr/>
        </p:nvSpPr>
        <p:spPr>
          <a:xfrm>
            <a:off x="635000" y="1933575"/>
            <a:ext cx="4826000" cy="158115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A plane surface is that</a:t>
            </a:r>
          </a:p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which lies evenly between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its extremities.</a:t>
            </a:r>
          </a:p>
        </p:txBody>
      </p:sp>
      <p:sp>
        <p:nvSpPr>
          <p:cNvPr id="4" name="n270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705225"/>
            <a:ext cx="4826000" cy="12192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provide extra context or nuance to slides. A good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description ensures slides can be consumed async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without a live presentation.</a:t>
            </a:r>
          </a:p>
        </p:txBody>
      </p:sp>
      <p:sp>
        <p:nvSpPr>
          <p:cNvPr id="5" name="n27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n272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n275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  <p:sp>
        <p:nvSpPr>
          <p:cNvPr id="3" name="n276" descr="BEFORE"/>
          <p:cNvSpPr txBox="1"/>
          <p:nvPr/>
        </p:nvSpPr>
        <p:spPr>
          <a:xfrm>
            <a:off x="635000" y="508000"/>
            <a:ext cx="6159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E638E"/>
                </a:solidFill>
                <a:latin typeface="Source Sans Pro Semibold"/>
                <a:ea typeface="Source Sans Pro Semibold"/>
                <a:cs typeface="Source Sans Pro Semibold"/>
              </a:rPr>
              <a:t>BEFORE</a:t>
            </a:r>
          </a:p>
        </p:txBody>
      </p:sp>
      <p:sp>
        <p:nvSpPr>
          <p:cNvPr id="4" name="n277" descr="AFTER"/>
          <p:cNvSpPr txBox="1"/>
          <p:nvPr/>
        </p:nvSpPr>
        <p:spPr>
          <a:xfrm>
            <a:off x="6883400" y="508000"/>
            <a:ext cx="4889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E8E51"/>
                </a:solidFill>
                <a:latin typeface="Source Sans Pro Semibold"/>
                <a:ea typeface="Source Sans Pro Semibold"/>
                <a:cs typeface="Source Sans Pro Semibold"/>
              </a:rPr>
              <a:t>AFTER</a:t>
            </a:r>
          </a:p>
        </p:txBody>
      </p:sp>
      <p:sp>
        <p:nvSpPr>
          <p:cNvPr id="5" name="n278"/>
          <p:cNvSpPr/>
          <p:nvPr/>
        </p:nvSpPr>
        <p:spPr>
          <a:xfrm>
            <a:off x="635000" y="1047750"/>
            <a:ext cx="4826000" cy="476250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n279"/>
          <p:cNvSpPr/>
          <p:nvPr/>
        </p:nvSpPr>
        <p:spPr>
          <a:xfrm>
            <a:off x="6731000" y="1047750"/>
            <a:ext cx="4826000" cy="476250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82" descr="SECTION NAME"/>
          <p:cNvSpPr txBox="1"/>
          <p:nvPr/>
        </p:nvSpPr>
        <p:spPr>
          <a:xfrm>
            <a:off x="635000" y="508000"/>
            <a:ext cx="11557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3" name="n283"/>
          <p:cNvSpPr/>
          <p:nvPr/>
        </p:nvSpPr>
        <p:spPr>
          <a:xfrm>
            <a:off x="0" y="1174750"/>
            <a:ext cx="12192000" cy="568325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n284"/>
          <p:cNvCxnSpPr/>
          <p:nvPr/>
        </p:nvCxnSpPr>
        <p:spPr>
          <a:xfrm>
            <a:off x="0" y="1174750"/>
            <a:ext cx="12192000" cy="1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888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87" descr="SECTION NAME"/>
          <p:cNvSpPr txBox="1"/>
          <p:nvPr/>
        </p:nvSpPr>
        <p:spPr>
          <a:xfrm>
            <a:off x="635000" y="508000"/>
            <a:ext cx="11557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FFFFFF">
                    <a:alpha val="50000"/>
                  </a:srgbClr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290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3" name="n292" descr="“"/>
          <p:cNvSpPr txBox="1"/>
          <p:nvPr/>
        </p:nvSpPr>
        <p:spPr>
          <a:xfrm>
            <a:off x="2343150" y="2397125"/>
            <a:ext cx="410676" cy="0"/>
          </a:xfrm>
          <a:prstGeom prst="rect">
            <a:avLst/>
          </a:prstGeom>
          <a:noFill/>
          <a:effectLst/>
        </p:spPr>
        <p:txBody>
          <a:bodyPr wrap="none" anchor="t" lIns="0" rIns="0" bIns="0" tIns="-473710" vertOverflow="overflow" horzOverflow="overflow">
            <a:noAutofit/>
          </a:bodyPr>
          <a:lstStyle/>
          <a:p>
            <a:pPr algn="l" marL="0">
              <a:lnSpc>
                <a:spcPts val="62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spc="-50" kern="0" lang="ru">
                <a:solidFill>
                  <a:srgbClr val="D42A20">
                    <a:alpha val="30000"/>
                  </a:srgbClr>
                </a:solidFill>
                <a:latin typeface="Source Serif Pro"/>
                <a:ea typeface="Source Serif Pro"/>
                <a:cs typeface="Source Serif Pro"/>
              </a:rPr>
              <a:t>“</a:t>
            </a:r>
          </a:p>
        </p:txBody>
      </p:sp>
      <p:sp>
        <p:nvSpPr>
          <p:cNvPr id="4" name="n293" descr="A quote from a customer, user, or other stakeholder that helps back up the points you are trying to make on the previous or upcoming slides."/>
          <p:cNvSpPr txBox="1"/>
          <p:nvPr/>
        </p:nvSpPr>
        <p:spPr>
          <a:xfrm>
            <a:off x="2343150" y="2587625"/>
            <a:ext cx="7505700" cy="1466850"/>
          </a:xfrm>
          <a:prstGeom prst="rect">
            <a:avLst/>
          </a:prstGeom>
          <a:noFill/>
          <a:effectLst/>
        </p:spPr>
        <p:txBody>
          <a:bodyPr wrap="none" anchor="t" lIns="0" rIns="0" bIns="0" tIns="17412" vertOverflow="overflow" horzOverflow="overflow">
            <a:noAutofit/>
          </a:bodyPr>
          <a:lstStyle/>
          <a:p>
            <a:pPr algn="l" marL="0">
              <a:lnSpc>
                <a:spcPts val="3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spc="-24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A quote from a customer, user, or other stakeholder that</a:t>
            </a:r>
          </a:p>
          <a:p>
            <a:pPr algn="l" marL="0">
              <a:lnSpc>
                <a:spcPts val="3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spc="-24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helps back up the points you are trying to make on the</a:t>
            </a:r>
          </a:p>
          <a:p>
            <a:pPr algn="l" marL="0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spc="-24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previous or upcoming slides.</a:t>
            </a:r>
          </a:p>
        </p:txBody>
      </p:sp>
      <p:sp>
        <p:nvSpPr>
          <p:cNvPr id="5" name="n294" descr="—JANE DOE"/>
          <p:cNvSpPr txBox="1"/>
          <p:nvPr/>
        </p:nvSpPr>
        <p:spPr>
          <a:xfrm>
            <a:off x="2343150" y="4244975"/>
            <a:ext cx="75057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D42A20"/>
                </a:solidFill>
                <a:latin typeface="Source Sans Pro Semibold"/>
                <a:ea typeface="Source Sans Pro Semibold"/>
                <a:cs typeface="Source Sans Pro Semibold"/>
              </a:rPr>
              <a:t>—JANE DOE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n297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3" name="n298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n299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5" name="n301" descr="“"/>
          <p:cNvSpPr txBox="1"/>
          <p:nvPr/>
        </p:nvSpPr>
        <p:spPr>
          <a:xfrm>
            <a:off x="635000" y="2578100"/>
            <a:ext cx="410676" cy="0"/>
          </a:xfrm>
          <a:prstGeom prst="rect">
            <a:avLst/>
          </a:prstGeom>
          <a:noFill/>
          <a:effectLst/>
        </p:spPr>
        <p:txBody>
          <a:bodyPr wrap="none" anchor="t" lIns="0" rIns="0" bIns="0" tIns="-473710" vertOverflow="overflow" horzOverflow="overflow">
            <a:noAutofit/>
          </a:bodyPr>
          <a:lstStyle/>
          <a:p>
            <a:pPr algn="l" marL="0">
              <a:lnSpc>
                <a:spcPts val="62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spc="-50" kern="0" lang="ru">
                <a:solidFill>
                  <a:srgbClr val="D42A20">
                    <a:alpha val="50000"/>
                  </a:srgbClr>
                </a:solidFill>
                <a:latin typeface="Source Serif Pro"/>
                <a:ea typeface="Source Serif Pro"/>
                <a:cs typeface="Source Serif Pro"/>
              </a:rPr>
              <a:t>“</a:t>
            </a:r>
          </a:p>
        </p:txBody>
      </p:sp>
      <p:sp>
        <p:nvSpPr>
          <p:cNvPr id="6" name="n302" descr="A quote from a customer, user, or other stakeholder that helps back up the point you’re trying to make on this slide."/>
          <p:cNvSpPr txBox="1"/>
          <p:nvPr/>
        </p:nvSpPr>
        <p:spPr>
          <a:xfrm>
            <a:off x="635000" y="2768600"/>
            <a:ext cx="4826000" cy="1104900"/>
          </a:xfrm>
          <a:prstGeom prst="rect">
            <a:avLst/>
          </a:prstGeom>
          <a:noFill/>
          <a:effectLst/>
        </p:spPr>
        <p:txBody>
          <a:bodyPr wrap="none" anchor="t" lIns="0" rIns="0" bIns="0" tIns="12662" vertOverflow="overflow" horzOverflow="overflow">
            <a:noAutofit/>
          </a:bodyPr>
          <a:lstStyle/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A quote from a customer, user, or other</a:t>
            </a:r>
          </a:p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stakeholder that helps back up the point you’re</a:t>
            </a:r>
          </a:p>
          <a:p>
            <a:pPr algn="l" marL="0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trying to make on this slide.</a:t>
            </a:r>
          </a:p>
        </p:txBody>
      </p:sp>
      <p:sp>
        <p:nvSpPr>
          <p:cNvPr id="7" name="n303" descr="— JANE DOE"/>
          <p:cNvSpPr txBox="1"/>
          <p:nvPr/>
        </p:nvSpPr>
        <p:spPr>
          <a:xfrm>
            <a:off x="635000" y="4064000"/>
            <a:ext cx="4826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D42A20"/>
                </a:solidFill>
                <a:latin typeface="Source Sans Pro Semibold"/>
                <a:ea typeface="Source Sans Pro Semibold"/>
                <a:cs typeface="Source Sans Pro Semibold"/>
              </a:rPr>
              <a:t>— JANE DOE</a:t>
            </a:r>
          </a:p>
        </p:txBody>
      </p:sp>
      <p:cxnSp>
        <p:nvCxnSpPr>
          <p:cNvPr id="8" name="n30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307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3" name="n309" descr="An obtuse angle is an angle greater than a right angle."/>
          <p:cNvSpPr txBox="1"/>
          <p:nvPr/>
        </p:nvSpPr>
        <p:spPr>
          <a:xfrm>
            <a:off x="635000" y="2197100"/>
            <a:ext cx="4826000" cy="105410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An obtuse angle is an angle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greater than a right angle.</a:t>
            </a:r>
          </a:p>
        </p:txBody>
      </p:sp>
      <p:sp>
        <p:nvSpPr>
          <p:cNvPr id="4" name="n310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441700"/>
            <a:ext cx="4826000" cy="12192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provide extra context or nuance to slides. A good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description ensures slides can be consumed async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without a live presentation.</a:t>
            </a:r>
          </a:p>
        </p:txBody>
      </p:sp>
      <p:sp>
        <p:nvSpPr>
          <p:cNvPr id="5" name="n312" descr="“"/>
          <p:cNvSpPr txBox="1"/>
          <p:nvPr/>
        </p:nvSpPr>
        <p:spPr>
          <a:xfrm>
            <a:off x="6731000" y="2578100"/>
            <a:ext cx="410676" cy="0"/>
          </a:xfrm>
          <a:prstGeom prst="rect">
            <a:avLst/>
          </a:prstGeom>
          <a:noFill/>
          <a:effectLst/>
        </p:spPr>
        <p:txBody>
          <a:bodyPr wrap="none" anchor="t" lIns="0" rIns="0" bIns="0" tIns="-473710" vertOverflow="overflow" horzOverflow="overflow">
            <a:noAutofit/>
          </a:bodyPr>
          <a:lstStyle/>
          <a:p>
            <a:pPr algn="l" marL="0">
              <a:lnSpc>
                <a:spcPts val="62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spc="-50" kern="0" lang="ru">
                <a:solidFill>
                  <a:srgbClr val="0E638E">
                    <a:alpha val="50000"/>
                  </a:srgbClr>
                </a:solidFill>
                <a:latin typeface="Source Serif Pro"/>
                <a:ea typeface="Source Serif Pro"/>
                <a:cs typeface="Source Serif Pro"/>
              </a:rPr>
              <a:t>“</a:t>
            </a:r>
          </a:p>
        </p:txBody>
      </p:sp>
      <p:sp>
        <p:nvSpPr>
          <p:cNvPr id="6" name="n313" descr="A quote from a customer, user, or other stakeholder that helps back up the point you’re trying to make on this slide."/>
          <p:cNvSpPr txBox="1"/>
          <p:nvPr/>
        </p:nvSpPr>
        <p:spPr>
          <a:xfrm>
            <a:off x="6731000" y="2768600"/>
            <a:ext cx="4826000" cy="1104900"/>
          </a:xfrm>
          <a:prstGeom prst="rect">
            <a:avLst/>
          </a:prstGeom>
          <a:noFill/>
          <a:effectLst/>
        </p:spPr>
        <p:txBody>
          <a:bodyPr wrap="none" anchor="t" lIns="0" rIns="0" bIns="0" tIns="12662" vertOverflow="overflow" horzOverflow="overflow">
            <a:noAutofit/>
          </a:bodyPr>
          <a:lstStyle/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A quote from a customer, user, or other</a:t>
            </a:r>
          </a:p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stakeholder that helps back up the point you’re</a:t>
            </a:r>
          </a:p>
          <a:p>
            <a:pPr algn="l" marL="0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trying to make on this slide.</a:t>
            </a:r>
          </a:p>
        </p:txBody>
      </p:sp>
      <p:sp>
        <p:nvSpPr>
          <p:cNvPr id="7" name="n314" descr="— JANE DOE"/>
          <p:cNvSpPr txBox="1"/>
          <p:nvPr/>
        </p:nvSpPr>
        <p:spPr>
          <a:xfrm>
            <a:off x="6731000" y="4064000"/>
            <a:ext cx="4826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E638E"/>
                </a:solidFill>
                <a:latin typeface="Source Sans Pro Semibold"/>
                <a:ea typeface="Source Sans Pro Semibold"/>
                <a:cs typeface="Source Sans Pro Semibold"/>
              </a:rPr>
              <a:t>— JANE DOE</a:t>
            </a:r>
          </a:p>
        </p:txBody>
      </p:sp>
      <p:cxnSp>
        <p:nvCxnSpPr>
          <p:cNvPr id="8" name="n315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n318"/>
          <p:cNvCxnSpPr/>
          <p:nvPr/>
        </p:nvCxnSpPr>
        <p:spPr>
          <a:xfrm flipH="1">
            <a:off x="6096000" y="3429000"/>
            <a:ext cx="6096000" cy="0"/>
          </a:xfrm>
          <a:prstGeom prst="line">
            <a:avLst/>
          </a:prstGeom>
          <a:ln w="19050">
            <a:solidFill>
              <a:srgbClr val="FCF7E9"/>
            </a:solidFill>
          </a:ln>
          <a:effectLst/>
        </p:spPr>
      </p:cxnSp>
      <p:sp>
        <p:nvSpPr>
          <p:cNvPr id="3" name="n319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4" name="n321" descr="An acute angle is less&#10;than a right angle."/>
          <p:cNvSpPr txBox="1"/>
          <p:nvPr/>
        </p:nvSpPr>
        <p:spPr>
          <a:xfrm>
            <a:off x="635000" y="2197100"/>
            <a:ext cx="4826000" cy="105410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An acute angle is less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than a right angle.</a:t>
            </a:r>
          </a:p>
        </p:txBody>
      </p:sp>
      <p:sp>
        <p:nvSpPr>
          <p:cNvPr id="5" name="n322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441700"/>
            <a:ext cx="4826000" cy="12192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provide extra context or nuance to slides. A good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description ensures slides can be consumed async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without a live presentation.</a:t>
            </a:r>
          </a:p>
        </p:txBody>
      </p:sp>
      <p:sp>
        <p:nvSpPr>
          <p:cNvPr id="6" name="n325" descr="“"/>
          <p:cNvSpPr txBox="1"/>
          <p:nvPr/>
        </p:nvSpPr>
        <p:spPr>
          <a:xfrm>
            <a:off x="6731000" y="4292600"/>
            <a:ext cx="410676" cy="0"/>
          </a:xfrm>
          <a:prstGeom prst="rect">
            <a:avLst/>
          </a:prstGeom>
          <a:noFill/>
          <a:effectLst/>
        </p:spPr>
        <p:txBody>
          <a:bodyPr wrap="none" anchor="t" lIns="0" rIns="0" bIns="0" tIns="-473710" vertOverflow="overflow" horzOverflow="overflow">
            <a:noAutofit/>
          </a:bodyPr>
          <a:lstStyle/>
          <a:p>
            <a:pPr algn="l" marL="0">
              <a:lnSpc>
                <a:spcPts val="62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spc="-50" kern="0" lang="ru">
                <a:solidFill>
                  <a:srgbClr val="D42A20">
                    <a:alpha val="50000"/>
                  </a:srgbClr>
                </a:solidFill>
                <a:latin typeface="Source Serif Pro"/>
                <a:ea typeface="Source Serif Pro"/>
                <a:cs typeface="Source Serif Pro"/>
              </a:rPr>
              <a:t>“</a:t>
            </a:r>
          </a:p>
        </p:txBody>
      </p:sp>
      <p:sp>
        <p:nvSpPr>
          <p:cNvPr id="7" name="n326" descr="A quote from a customer, user, or other stakeholder that helps back up the point you’re trying to make on this slide."/>
          <p:cNvSpPr txBox="1"/>
          <p:nvPr/>
        </p:nvSpPr>
        <p:spPr>
          <a:xfrm>
            <a:off x="6731000" y="4483100"/>
            <a:ext cx="4826000" cy="1104900"/>
          </a:xfrm>
          <a:prstGeom prst="rect">
            <a:avLst/>
          </a:prstGeom>
          <a:noFill/>
          <a:effectLst/>
        </p:spPr>
        <p:txBody>
          <a:bodyPr wrap="none" anchor="t" lIns="0" rIns="0" bIns="0" tIns="12662" vertOverflow="overflow" horzOverflow="overflow">
            <a:noAutofit/>
          </a:bodyPr>
          <a:lstStyle/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A quote from a customer, user, or other</a:t>
            </a:r>
          </a:p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stakeholder that helps back up the point you’re</a:t>
            </a:r>
          </a:p>
          <a:p>
            <a:pPr algn="l" marL="0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D42A20"/>
                </a:solidFill>
                <a:latin typeface="Source Serif Pro"/>
                <a:ea typeface="Source Serif Pro"/>
                <a:cs typeface="Source Serif Pro"/>
              </a:rPr>
              <a:t>trying to make on this slide.</a:t>
            </a:r>
          </a:p>
        </p:txBody>
      </p:sp>
      <p:sp>
        <p:nvSpPr>
          <p:cNvPr id="8" name="n327" descr="— JANE DOE"/>
          <p:cNvSpPr txBox="1"/>
          <p:nvPr/>
        </p:nvSpPr>
        <p:spPr>
          <a:xfrm>
            <a:off x="6731000" y="5778500"/>
            <a:ext cx="4826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D42A20"/>
                </a:solidFill>
                <a:latin typeface="Source Sans Pro Semibold"/>
                <a:ea typeface="Source Sans Pro Semibold"/>
                <a:cs typeface="Source Sans Pro Semibold"/>
              </a:rPr>
              <a:t>— JANE DOE</a:t>
            </a:r>
          </a:p>
        </p:txBody>
      </p:sp>
      <p:sp>
        <p:nvSpPr>
          <p:cNvPr id="9" name="n330" descr="“"/>
          <p:cNvSpPr txBox="1"/>
          <p:nvPr/>
        </p:nvSpPr>
        <p:spPr>
          <a:xfrm>
            <a:off x="6731000" y="844550"/>
            <a:ext cx="410676" cy="0"/>
          </a:xfrm>
          <a:prstGeom prst="rect">
            <a:avLst/>
          </a:prstGeom>
          <a:noFill/>
          <a:effectLst/>
        </p:spPr>
        <p:txBody>
          <a:bodyPr wrap="none" anchor="t" lIns="0" rIns="0" bIns="0" tIns="-473710" vertOverflow="overflow" horzOverflow="overflow">
            <a:noAutofit/>
          </a:bodyPr>
          <a:lstStyle/>
          <a:p>
            <a:pPr algn="l" marL="0">
              <a:lnSpc>
                <a:spcPts val="62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spc="-50" kern="0" lang="ru">
                <a:solidFill>
                  <a:srgbClr val="0E638E">
                    <a:alpha val="50000"/>
                  </a:srgbClr>
                </a:solidFill>
                <a:latin typeface="Source Serif Pro"/>
                <a:ea typeface="Source Serif Pro"/>
                <a:cs typeface="Source Serif Pro"/>
              </a:rPr>
              <a:t>“</a:t>
            </a:r>
          </a:p>
        </p:txBody>
      </p:sp>
      <p:sp>
        <p:nvSpPr>
          <p:cNvPr id="10" name="n331" descr="A quote from a customer, user, or other stakeholder that helps back up the point you’re trying to make on this slide."/>
          <p:cNvSpPr txBox="1"/>
          <p:nvPr/>
        </p:nvSpPr>
        <p:spPr>
          <a:xfrm>
            <a:off x="6731000" y="1035050"/>
            <a:ext cx="4826000" cy="1104900"/>
          </a:xfrm>
          <a:prstGeom prst="rect">
            <a:avLst/>
          </a:prstGeom>
          <a:noFill/>
          <a:effectLst/>
        </p:spPr>
        <p:txBody>
          <a:bodyPr wrap="none" anchor="t" lIns="0" rIns="0" bIns="0" tIns="12662" vertOverflow="overflow" horzOverflow="overflow">
            <a:noAutofit/>
          </a:bodyPr>
          <a:lstStyle/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A quote from a customer, user, or other</a:t>
            </a:r>
          </a:p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stakeholder that helps back up the point you’re</a:t>
            </a:r>
          </a:p>
          <a:p>
            <a:pPr algn="l" marL="0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trying to make on this slide.</a:t>
            </a:r>
          </a:p>
        </p:txBody>
      </p:sp>
      <p:sp>
        <p:nvSpPr>
          <p:cNvPr id="11" name="n332" descr="— JANE DOE"/>
          <p:cNvSpPr txBox="1"/>
          <p:nvPr/>
        </p:nvSpPr>
        <p:spPr>
          <a:xfrm>
            <a:off x="6731000" y="2330450"/>
            <a:ext cx="4826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E638E"/>
                </a:solidFill>
                <a:latin typeface="Source Sans Pro Semibold"/>
                <a:ea typeface="Source Sans Pro Semibold"/>
                <a:cs typeface="Source Sans Pro Semibold"/>
              </a:rPr>
              <a:t>— JANE DOE</a:t>
            </a:r>
          </a:p>
        </p:txBody>
      </p:sp>
      <p:cxnSp>
        <p:nvCxnSpPr>
          <p:cNvPr id="12" name="n333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  <p:cxnSp>
        <p:nvCxnSpPr>
          <p:cNvPr id="13" name="n334"/>
          <p:cNvCxnSpPr/>
          <p:nvPr/>
        </p:nvCxnSpPr>
        <p:spPr>
          <a:xfrm>
            <a:off x="6096000" y="3429000"/>
            <a:ext cx="6096000" cy="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337"/>
          <p:cNvSpPr/>
          <p:nvPr/>
        </p:nvSpPr>
        <p:spPr>
          <a:xfrm>
            <a:off x="6096000" y="0"/>
            <a:ext cx="6096000" cy="3429000"/>
          </a:xfrm>
          <a:prstGeom prst="rect">
            <a:avLst/>
          </a:prstGeom>
          <a:solidFill>
            <a:srgbClr val="FEFB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n338"/>
          <p:cNvCxnSpPr/>
          <p:nvPr/>
        </p:nvCxnSpPr>
        <p:spPr>
          <a:xfrm flipH="1">
            <a:off x="6096000" y="3429000"/>
            <a:ext cx="6096000" cy="0"/>
          </a:xfrm>
          <a:prstGeom prst="line">
            <a:avLst/>
          </a:prstGeom>
          <a:ln w="19050">
            <a:solidFill>
              <a:srgbClr val="FCF7E9"/>
            </a:solidFill>
          </a:ln>
          <a:effectLst/>
        </p:spPr>
      </p:cxnSp>
      <p:sp>
        <p:nvSpPr>
          <p:cNvPr id="4" name="n339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5" name="n341" descr="A figure is a surface enclosed on all sides by a line or lines."/>
          <p:cNvSpPr txBox="1"/>
          <p:nvPr/>
        </p:nvSpPr>
        <p:spPr>
          <a:xfrm>
            <a:off x="635000" y="1933575"/>
            <a:ext cx="4826000" cy="158115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A figure is a surface</a:t>
            </a:r>
          </a:p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enclosed on all sides by a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line or lines.</a:t>
            </a:r>
          </a:p>
        </p:txBody>
      </p:sp>
      <p:sp>
        <p:nvSpPr>
          <p:cNvPr id="6" name="n342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705225"/>
            <a:ext cx="4826000" cy="12192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provide extra context or nuance to slides. A good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description ensures slides can be consumed async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without a live presentation.</a:t>
            </a:r>
          </a:p>
        </p:txBody>
      </p:sp>
      <p:sp>
        <p:nvSpPr>
          <p:cNvPr id="7" name="n345" descr="“"/>
          <p:cNvSpPr txBox="1"/>
          <p:nvPr/>
        </p:nvSpPr>
        <p:spPr>
          <a:xfrm>
            <a:off x="6731000" y="4292600"/>
            <a:ext cx="410676" cy="0"/>
          </a:xfrm>
          <a:prstGeom prst="rect">
            <a:avLst/>
          </a:prstGeom>
          <a:noFill/>
          <a:effectLst/>
        </p:spPr>
        <p:txBody>
          <a:bodyPr wrap="none" anchor="t" lIns="0" rIns="0" bIns="0" tIns="-473710" vertOverflow="overflow" horzOverflow="overflow">
            <a:noAutofit/>
          </a:bodyPr>
          <a:lstStyle/>
          <a:p>
            <a:pPr algn="l" marL="0">
              <a:lnSpc>
                <a:spcPts val="62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000" b="1" i="0" spc="-50" kern="0" lang="ru">
                <a:solidFill>
                  <a:srgbClr val="0E638E">
                    <a:alpha val="50000"/>
                  </a:srgbClr>
                </a:solidFill>
                <a:latin typeface="Source Serif Pro"/>
                <a:ea typeface="Source Serif Pro"/>
                <a:cs typeface="Source Serif Pro"/>
              </a:rPr>
              <a:t>“</a:t>
            </a:r>
          </a:p>
        </p:txBody>
      </p:sp>
      <p:sp>
        <p:nvSpPr>
          <p:cNvPr id="8" name="n346" descr="A quote from a customer, user, or other stakeholder that helps back up the point you’re trying to make on this slide."/>
          <p:cNvSpPr txBox="1"/>
          <p:nvPr/>
        </p:nvSpPr>
        <p:spPr>
          <a:xfrm>
            <a:off x="6731000" y="4483100"/>
            <a:ext cx="4826000" cy="1104900"/>
          </a:xfrm>
          <a:prstGeom prst="rect">
            <a:avLst/>
          </a:prstGeom>
          <a:noFill/>
          <a:effectLst/>
        </p:spPr>
        <p:txBody>
          <a:bodyPr wrap="none" anchor="t" lIns="0" rIns="0" bIns="0" tIns="12662" vertOverflow="overflow" horzOverflow="overflow">
            <a:noAutofit/>
          </a:bodyPr>
          <a:lstStyle/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A quote from a customer, user, or other</a:t>
            </a:r>
          </a:p>
          <a:p>
            <a:pPr algn="l" mar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stakeholder that helps back up the point you’re</a:t>
            </a:r>
          </a:p>
          <a:p>
            <a:pPr algn="l" marL="0">
              <a:lnSpc>
                <a:spcPts val="2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spc="-18" kern="0" lang="ru">
                <a:solidFill>
                  <a:srgbClr val="0E638E"/>
                </a:solidFill>
                <a:latin typeface="Source Serif Pro"/>
                <a:ea typeface="Source Serif Pro"/>
                <a:cs typeface="Source Serif Pro"/>
              </a:rPr>
              <a:t>trying to make on this slide.</a:t>
            </a:r>
          </a:p>
        </p:txBody>
      </p:sp>
      <p:sp>
        <p:nvSpPr>
          <p:cNvPr id="9" name="n347" descr="— JANE DOE"/>
          <p:cNvSpPr txBox="1"/>
          <p:nvPr/>
        </p:nvSpPr>
        <p:spPr>
          <a:xfrm>
            <a:off x="6731000" y="5778500"/>
            <a:ext cx="4826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E638E"/>
                </a:solidFill>
                <a:latin typeface="Source Sans Pro Semibold"/>
                <a:ea typeface="Source Sans Pro Semibold"/>
                <a:cs typeface="Source Sans Pro Semibold"/>
              </a:rPr>
              <a:t>— JANE DOE</a:t>
            </a:r>
          </a:p>
        </p:txBody>
      </p:sp>
      <p:cxnSp>
        <p:nvCxnSpPr>
          <p:cNvPr id="10" name="n348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  <p:cxnSp>
        <p:nvCxnSpPr>
          <p:cNvPr id="11" name="n349"/>
          <p:cNvCxnSpPr/>
          <p:nvPr/>
        </p:nvCxnSpPr>
        <p:spPr>
          <a:xfrm>
            <a:off x="6096000" y="3429000"/>
            <a:ext cx="6096000" cy="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352" descr="TIMELINE"/>
          <p:cNvSpPr txBox="1"/>
          <p:nvPr/>
        </p:nvSpPr>
        <p:spPr>
          <a:xfrm>
            <a:off x="635000" y="508000"/>
            <a:ext cx="7302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TIMELINE</a:t>
            </a:r>
          </a:p>
        </p:txBody>
      </p:sp>
      <p:sp>
        <p:nvSpPr>
          <p:cNvPr id="3" name="n353" descr="Longer description of slide content. Typically used to provide extra context or nuance to slides. A good description ensures slides can be consumed async without a live presentation.&#10;&#10;"/>
          <p:cNvSpPr txBox="1"/>
          <p:nvPr/>
        </p:nvSpPr>
        <p:spPr>
          <a:xfrm>
            <a:off x="635000" y="1200150"/>
            <a:ext cx="6184900" cy="15240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 provide extra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context or nuance to slides. A good description ensures slides can be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consumed async without a live presentation.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/>
            </a:r>
          </a:p>
        </p:txBody>
      </p:sp>
      <p:sp>
        <p:nvSpPr>
          <p:cNvPr id="4" name="n356" descr="JANUARY"/>
          <p:cNvSpPr txBox="1"/>
          <p:nvPr/>
        </p:nvSpPr>
        <p:spPr>
          <a:xfrm>
            <a:off x="635000" y="3232150"/>
            <a:ext cx="7112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00000"/>
                </a:solidFill>
                <a:latin typeface="Source Sans Pro Semibold"/>
                <a:ea typeface="Source Sans Pro Semibold"/>
                <a:cs typeface="Source Sans Pro Semibold"/>
              </a:rPr>
              <a:t>JANUARY</a:t>
            </a:r>
          </a:p>
        </p:txBody>
      </p:sp>
      <p:sp>
        <p:nvSpPr>
          <p:cNvPr id="5" name="n357" descr="AUGUST"/>
          <p:cNvSpPr txBox="1"/>
          <p:nvPr/>
        </p:nvSpPr>
        <p:spPr>
          <a:xfrm>
            <a:off x="10922000" y="3232150"/>
            <a:ext cx="635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r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00000"/>
                </a:solidFill>
                <a:latin typeface="Source Sans Pro Semibold"/>
                <a:ea typeface="Source Sans Pro Semibold"/>
                <a:cs typeface="Source Sans Pro Semibold"/>
              </a:rPr>
              <a:t>AUGUST</a:t>
            </a:r>
          </a:p>
        </p:txBody>
      </p:sp>
      <p:sp>
        <p:nvSpPr>
          <p:cNvPr id="6" name="n358"/>
          <p:cNvSpPr/>
          <p:nvPr/>
        </p:nvSpPr>
        <p:spPr>
          <a:xfrm>
            <a:off x="635000" y="3835400"/>
            <a:ext cx="4006850" cy="476250"/>
          </a:xfrm>
          <a:prstGeom prst="rect">
            <a:avLst/>
          </a:prstGeom>
          <a:solidFill>
            <a:srgbClr val="0E638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n359" descr="v1 design"/>
          <p:cNvSpPr txBox="1"/>
          <p:nvPr/>
        </p:nvSpPr>
        <p:spPr>
          <a:xfrm>
            <a:off x="762000" y="3962400"/>
            <a:ext cx="37528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FFFFFF"/>
                </a:solidFill>
                <a:latin typeface="Source Sans Pro Semibold"/>
                <a:ea typeface="Source Sans Pro Semibold"/>
                <a:cs typeface="Source Sans Pro Semibold"/>
              </a:rPr>
              <a:t>v1 design</a:t>
            </a:r>
          </a:p>
        </p:txBody>
      </p:sp>
      <p:sp>
        <p:nvSpPr>
          <p:cNvPr id="8" name="n360"/>
          <p:cNvSpPr/>
          <p:nvPr/>
        </p:nvSpPr>
        <p:spPr>
          <a:xfrm>
            <a:off x="4768850" y="3835400"/>
            <a:ext cx="4006850" cy="476250"/>
          </a:xfrm>
          <a:prstGeom prst="rect">
            <a:avLst/>
          </a:prstGeom>
          <a:solidFill>
            <a:srgbClr val="0E638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n361" descr="v2 design"/>
          <p:cNvSpPr txBox="1"/>
          <p:nvPr/>
        </p:nvSpPr>
        <p:spPr>
          <a:xfrm>
            <a:off x="4895850" y="3962400"/>
            <a:ext cx="37528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FFFFFF"/>
                </a:solidFill>
                <a:latin typeface="Source Sans Pro Semibold"/>
                <a:ea typeface="Source Sans Pro Semibold"/>
                <a:cs typeface="Source Sans Pro Semibold"/>
              </a:rPr>
              <a:t>v2 design</a:t>
            </a:r>
          </a:p>
        </p:txBody>
      </p:sp>
      <p:sp>
        <p:nvSpPr>
          <p:cNvPr id="10" name="n362"/>
          <p:cNvSpPr/>
          <p:nvPr/>
        </p:nvSpPr>
        <p:spPr>
          <a:xfrm>
            <a:off x="2463800" y="5054600"/>
            <a:ext cx="6311900" cy="476250"/>
          </a:xfrm>
          <a:prstGeom prst="rect">
            <a:avLst/>
          </a:prstGeom>
          <a:solidFill>
            <a:srgbClr val="D42A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n363" descr="User testing &amp; research"/>
          <p:cNvSpPr txBox="1"/>
          <p:nvPr/>
        </p:nvSpPr>
        <p:spPr>
          <a:xfrm>
            <a:off x="2590800" y="5181600"/>
            <a:ext cx="60579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FFFFFF"/>
                </a:solidFill>
                <a:latin typeface="Source Sans Pro Semibold"/>
                <a:ea typeface="Source Sans Pro Semibold"/>
                <a:cs typeface="Source Sans Pro Semibold"/>
              </a:rPr>
              <a:t>User testing &amp; research</a:t>
            </a:r>
          </a:p>
        </p:txBody>
      </p:sp>
      <p:sp>
        <p:nvSpPr>
          <p:cNvPr id="12" name="n364"/>
          <p:cNvSpPr/>
          <p:nvPr/>
        </p:nvSpPr>
        <p:spPr>
          <a:xfrm>
            <a:off x="2463800" y="4445000"/>
            <a:ext cx="2178050" cy="476250"/>
          </a:xfrm>
          <a:prstGeom prst="rect">
            <a:avLst/>
          </a:prstGeom>
          <a:solidFill>
            <a:srgbClr val="FAC2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n365" descr="Engineering exploration"/>
          <p:cNvSpPr txBox="1"/>
          <p:nvPr/>
        </p:nvSpPr>
        <p:spPr>
          <a:xfrm>
            <a:off x="2590800" y="4572000"/>
            <a:ext cx="19240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00000"/>
                </a:solidFill>
                <a:latin typeface="Source Sans Pro Semibold"/>
                <a:ea typeface="Source Sans Pro Semibold"/>
                <a:cs typeface="Source Sans Pro Semibold"/>
              </a:rPr>
              <a:t>Engineering exploration</a:t>
            </a:r>
          </a:p>
        </p:txBody>
      </p:sp>
      <p:sp>
        <p:nvSpPr>
          <p:cNvPr id="14" name="n366"/>
          <p:cNvSpPr/>
          <p:nvPr/>
        </p:nvSpPr>
        <p:spPr>
          <a:xfrm>
            <a:off x="4768850" y="4445000"/>
            <a:ext cx="2178050" cy="476250"/>
          </a:xfrm>
          <a:prstGeom prst="rect">
            <a:avLst/>
          </a:prstGeom>
          <a:solidFill>
            <a:srgbClr val="FAC2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n367" descr="Web implementation"/>
          <p:cNvSpPr txBox="1"/>
          <p:nvPr/>
        </p:nvSpPr>
        <p:spPr>
          <a:xfrm>
            <a:off x="4895850" y="4572000"/>
            <a:ext cx="19240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00000"/>
                </a:solidFill>
                <a:latin typeface="Source Sans Pro Semibold"/>
                <a:ea typeface="Source Sans Pro Semibold"/>
                <a:cs typeface="Source Sans Pro Semibold"/>
              </a:rPr>
              <a:t>Web implementation</a:t>
            </a:r>
          </a:p>
        </p:txBody>
      </p:sp>
      <p:sp>
        <p:nvSpPr>
          <p:cNvPr id="16" name="n368"/>
          <p:cNvSpPr/>
          <p:nvPr/>
        </p:nvSpPr>
        <p:spPr>
          <a:xfrm>
            <a:off x="7080250" y="4445000"/>
            <a:ext cx="2171700" cy="476250"/>
          </a:xfrm>
          <a:prstGeom prst="rect">
            <a:avLst/>
          </a:prstGeom>
          <a:solidFill>
            <a:srgbClr val="FAC2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n369" descr="Android implementation"/>
          <p:cNvSpPr txBox="1"/>
          <p:nvPr/>
        </p:nvSpPr>
        <p:spPr>
          <a:xfrm>
            <a:off x="7207250" y="4572000"/>
            <a:ext cx="19177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00000"/>
                </a:solidFill>
                <a:latin typeface="Source Sans Pro Semibold"/>
                <a:ea typeface="Source Sans Pro Semibold"/>
                <a:cs typeface="Source Sans Pro Semibold"/>
              </a:rPr>
              <a:t>Android implementation</a:t>
            </a:r>
          </a:p>
        </p:txBody>
      </p:sp>
      <p:sp>
        <p:nvSpPr>
          <p:cNvPr id="18" name="n370"/>
          <p:cNvSpPr/>
          <p:nvPr/>
        </p:nvSpPr>
        <p:spPr>
          <a:xfrm>
            <a:off x="9385300" y="4445000"/>
            <a:ext cx="2171700" cy="476250"/>
          </a:xfrm>
          <a:prstGeom prst="rect">
            <a:avLst/>
          </a:prstGeom>
          <a:solidFill>
            <a:srgbClr val="FAC2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n371" descr="iOS implementation"/>
          <p:cNvSpPr txBox="1"/>
          <p:nvPr/>
        </p:nvSpPr>
        <p:spPr>
          <a:xfrm>
            <a:off x="9512300" y="4572000"/>
            <a:ext cx="19177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00000"/>
                </a:solidFill>
                <a:latin typeface="Source Sans Pro Semibold"/>
                <a:ea typeface="Source Sans Pro Semibold"/>
                <a:cs typeface="Source Sans Pro Semibold"/>
              </a:rPr>
              <a:t>iOS implementation</a:t>
            </a:r>
          </a:p>
        </p:txBody>
      </p:sp>
      <p:sp>
        <p:nvSpPr>
          <p:cNvPr id="20" name="n372"/>
          <p:cNvSpPr/>
          <p:nvPr/>
        </p:nvSpPr>
        <p:spPr>
          <a:xfrm>
            <a:off x="8909050" y="3835400"/>
            <a:ext cx="2647950" cy="476250"/>
          </a:xfrm>
          <a:prstGeom prst="rect">
            <a:avLst/>
          </a:prstGeom>
          <a:solidFill>
            <a:srgbClr val="0E638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n373" descr="Brand asset design"/>
          <p:cNvSpPr txBox="1"/>
          <p:nvPr/>
        </p:nvSpPr>
        <p:spPr>
          <a:xfrm>
            <a:off x="9036050" y="3962400"/>
            <a:ext cx="23939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FFFFFF"/>
                </a:solidFill>
                <a:latin typeface="Source Sans Pro Semibold"/>
                <a:ea typeface="Source Sans Pro Semibold"/>
                <a:cs typeface="Source Sans Pro Semibold"/>
              </a:rPr>
              <a:t>Brand asset design</a:t>
            </a:r>
          </a:p>
        </p:txBody>
      </p:sp>
      <p:cxnSp>
        <p:nvCxnSpPr>
          <p:cNvPr id="22" name="n374"/>
          <p:cNvCxnSpPr/>
          <p:nvPr/>
        </p:nvCxnSpPr>
        <p:spPr>
          <a:xfrm flipH="1">
            <a:off x="0" y="3543300"/>
            <a:ext cx="12192000" cy="1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377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3" name="n379" descr="The extremities of a surface are lines."/>
          <p:cNvSpPr txBox="1"/>
          <p:nvPr/>
        </p:nvSpPr>
        <p:spPr>
          <a:xfrm>
            <a:off x="635000" y="2197100"/>
            <a:ext cx="4826000" cy="105410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The extremities of a surface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are lines.</a:t>
            </a:r>
          </a:p>
        </p:txBody>
      </p:sp>
      <p:sp>
        <p:nvSpPr>
          <p:cNvPr id="4" name="n380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441700"/>
            <a:ext cx="4826000" cy="12192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provide extra context or nuance to slides. A good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description ensures slides can be consumed async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without a live presentation.</a:t>
            </a:r>
          </a:p>
        </p:txBody>
      </p:sp>
      <p:sp>
        <p:nvSpPr>
          <p:cNvPr id="5" name="n383" descr="+330K"/>
          <p:cNvSpPr txBox="1"/>
          <p:nvPr/>
        </p:nvSpPr>
        <p:spPr>
          <a:xfrm>
            <a:off x="6731000" y="1314450"/>
            <a:ext cx="4826000" cy="768350"/>
          </a:xfrm>
          <a:prstGeom prst="rect">
            <a:avLst/>
          </a:prstGeom>
          <a:noFill/>
          <a:effectLst/>
        </p:spPr>
        <p:txBody>
          <a:bodyPr wrap="none" anchor="t" lIns="0" rIns="0" bIns="0" tIns="813" vertOverflow="overflow" horzOverflow="overflow">
            <a:noAutofit/>
          </a:bodyPr>
          <a:lstStyle/>
          <a:p>
            <a:pPr algn="l" marL="0">
              <a:lnSpc>
                <a:spcPts val="6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0" i="0" spc="-48" kern="0" lang="ru">
                <a:solidFill>
                  <a:srgbClr val="000000"/>
                </a:solidFill>
                <a:latin typeface="Source Sans Pro Black"/>
                <a:ea typeface="Source Sans Pro Black"/>
                <a:cs typeface="Source Sans Pro Black"/>
              </a:rPr>
              <a:t>+330K</a:t>
            </a:r>
          </a:p>
        </p:txBody>
      </p:sp>
      <p:sp>
        <p:nvSpPr>
          <p:cNvPr id="6" name="n384" descr="Metric details and caveats"/>
          <p:cNvSpPr txBox="1"/>
          <p:nvPr/>
        </p:nvSpPr>
        <p:spPr>
          <a:xfrm>
            <a:off x="6731000" y="2209800"/>
            <a:ext cx="4826000" cy="3048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Metric details and caveats</a:t>
            </a:r>
          </a:p>
        </p:txBody>
      </p:sp>
      <p:sp>
        <p:nvSpPr>
          <p:cNvPr id="7" name="n386" descr="+103%"/>
          <p:cNvSpPr txBox="1"/>
          <p:nvPr/>
        </p:nvSpPr>
        <p:spPr>
          <a:xfrm>
            <a:off x="6731000" y="2832100"/>
            <a:ext cx="4826000" cy="768350"/>
          </a:xfrm>
          <a:prstGeom prst="rect">
            <a:avLst/>
          </a:prstGeom>
          <a:noFill/>
          <a:effectLst/>
        </p:spPr>
        <p:txBody>
          <a:bodyPr wrap="none" anchor="t" lIns="0" rIns="0" bIns="0" tIns="813" vertOverflow="overflow" horzOverflow="overflow">
            <a:noAutofit/>
          </a:bodyPr>
          <a:lstStyle/>
          <a:p>
            <a:pPr algn="l" marL="0">
              <a:lnSpc>
                <a:spcPts val="6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0" i="0" spc="-48" kern="0" lang="ru">
                <a:solidFill>
                  <a:srgbClr val="000000"/>
                </a:solidFill>
                <a:latin typeface="Source Sans Pro Black"/>
                <a:ea typeface="Source Sans Pro Black"/>
                <a:cs typeface="Source Sans Pro Black"/>
              </a:rPr>
              <a:t>+103%</a:t>
            </a:r>
          </a:p>
        </p:txBody>
      </p:sp>
      <p:sp>
        <p:nvSpPr>
          <p:cNvPr id="8" name="n387" descr="Metric details and caveats"/>
          <p:cNvSpPr txBox="1"/>
          <p:nvPr/>
        </p:nvSpPr>
        <p:spPr>
          <a:xfrm>
            <a:off x="6731000" y="3727450"/>
            <a:ext cx="4826000" cy="3048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Metric details and caveats</a:t>
            </a:r>
          </a:p>
        </p:txBody>
      </p:sp>
      <p:sp>
        <p:nvSpPr>
          <p:cNvPr id="9" name="n389" descr="-18%"/>
          <p:cNvSpPr txBox="1"/>
          <p:nvPr/>
        </p:nvSpPr>
        <p:spPr>
          <a:xfrm>
            <a:off x="6731000" y="4349750"/>
            <a:ext cx="4826000" cy="768350"/>
          </a:xfrm>
          <a:prstGeom prst="rect">
            <a:avLst/>
          </a:prstGeom>
          <a:noFill/>
          <a:effectLst/>
        </p:spPr>
        <p:txBody>
          <a:bodyPr wrap="none" anchor="t" lIns="0" rIns="0" bIns="0" tIns="813" vertOverflow="overflow" horzOverflow="overflow">
            <a:noAutofit/>
          </a:bodyPr>
          <a:lstStyle/>
          <a:p>
            <a:pPr algn="l" marL="0">
              <a:lnSpc>
                <a:spcPts val="6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0" i="0" spc="-48" kern="0" lang="ru">
                <a:solidFill>
                  <a:srgbClr val="000000"/>
                </a:solidFill>
                <a:latin typeface="Source Sans Pro Black"/>
                <a:ea typeface="Source Sans Pro Black"/>
                <a:cs typeface="Source Sans Pro Black"/>
              </a:rPr>
              <a:t>-18%</a:t>
            </a:r>
          </a:p>
        </p:txBody>
      </p:sp>
      <p:sp>
        <p:nvSpPr>
          <p:cNvPr id="10" name="n390" descr="Metric details and caveats"/>
          <p:cNvSpPr txBox="1"/>
          <p:nvPr/>
        </p:nvSpPr>
        <p:spPr>
          <a:xfrm>
            <a:off x="6731000" y="5245100"/>
            <a:ext cx="4826000" cy="3048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Metric details and caveats</a:t>
            </a:r>
          </a:p>
        </p:txBody>
      </p:sp>
      <p:cxnSp>
        <p:nvCxnSpPr>
          <p:cNvPr id="11" name="n391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394" descr="PROS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0B863B"/>
                </a:solidFill>
                <a:latin typeface="Source Sans Pro Semibold"/>
                <a:ea typeface="Source Sans Pro Semibold"/>
                <a:cs typeface="Source Sans Pro Semibold"/>
              </a:rPr>
              <a:t>PROS</a:t>
            </a:r>
          </a:p>
        </p:txBody>
      </p:sp>
      <p:sp>
        <p:nvSpPr>
          <p:cNvPr id="3" name="n395" descr="CONS"/>
          <p:cNvSpPr txBox="1"/>
          <p:nvPr/>
        </p:nvSpPr>
        <p:spPr>
          <a:xfrm>
            <a:off x="6731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D1220A"/>
                </a:solidFill>
                <a:latin typeface="Source Sans Pro Semibold"/>
                <a:ea typeface="Source Sans Pro Semibold"/>
                <a:cs typeface="Source Sans Pro Semibold"/>
              </a:rPr>
              <a:t>CONS</a:t>
            </a:r>
          </a:p>
        </p:txBody>
      </p:sp>
      <p:sp>
        <p:nvSpPr>
          <p:cNvPr id="4" name="n396" descr="First point&#10;Second point&#10;Third point&#10;Fourth point"/>
          <p:cNvSpPr txBox="1"/>
          <p:nvPr/>
        </p:nvSpPr>
        <p:spPr>
          <a:xfrm>
            <a:off x="6731000" y="2286000"/>
            <a:ext cx="4762500" cy="210820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1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First point</a:t>
            </a:r>
          </a:p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2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Second point</a:t>
            </a:r>
          </a:p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3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Third point</a:t>
            </a:r>
          </a:p>
          <a:p>
            <a:pPr algn="l" marL="400050" indent="-287882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Font typeface="Source Sans Pro"/>
              <a:buAutoNum type="arabicPeriod" startAt="4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Fourth point</a:t>
            </a:r>
          </a:p>
        </p:txBody>
      </p:sp>
      <p:sp>
        <p:nvSpPr>
          <p:cNvPr id="5" name="n397" descr="First point&#10;Second point&#10;Third point&#10;Fourth point"/>
          <p:cNvSpPr txBox="1"/>
          <p:nvPr/>
        </p:nvSpPr>
        <p:spPr>
          <a:xfrm>
            <a:off x="635000" y="2286000"/>
            <a:ext cx="4762500" cy="210820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1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First point</a:t>
            </a:r>
          </a:p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2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Second point</a:t>
            </a:r>
          </a:p>
          <a:p>
            <a:pPr algn="l" marL="400050" indent="-287882">
              <a:lnSpc>
                <a:spcPts val="2650"/>
              </a:lnSpc>
              <a:spcBef>
                <a:spcPts val="0"/>
              </a:spcBef>
              <a:spcAft>
                <a:spcPts val="2000"/>
              </a:spcAft>
              <a:buFont typeface="Source Sans Pro"/>
              <a:buAutoNum type="arabicPeriod" startAt="3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Third point</a:t>
            </a:r>
          </a:p>
          <a:p>
            <a:pPr algn="l" marL="400050" indent="-287882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Font typeface="Source Sans Pro"/>
              <a:buAutoNum type="arabicPeriod" startAt="4"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Fourth point</a:t>
            </a:r>
          </a:p>
        </p:txBody>
      </p:sp>
      <p:cxnSp>
        <p:nvCxnSpPr>
          <p:cNvPr id="6" name="n398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404"/>
          <p:cNvSpPr/>
          <p:nvPr/>
        </p:nvSpPr>
        <p:spPr>
          <a:xfrm>
            <a:off x="6731000" y="2114550"/>
            <a:ext cx="266700" cy="266700"/>
          </a:xfrm>
          <a:prstGeom prst="ellipse">
            <a:avLst/>
          </a:prstGeom>
          <a:solidFill>
            <a:srgbClr val="0E8E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n405"/>
          <p:cNvSpPr/>
          <p:nvPr/>
        </p:nvSpPr>
        <p:spPr>
          <a:xfrm>
            <a:off x="6807200" y="2200275"/>
            <a:ext cx="106305" cy="94783"/>
          </a:xfrm>
          <a:custGeom>
            <a:avLst/>
            <a:gdLst/>
            <a:ahLst/>
            <a:cxnLst/>
            <a:rect l="0" t="0" r="r" b="b"/>
            <a:pathLst>
              <a:path w="106305" h="94783" stroke="0" extrusionOk="0">
                <a:moveTo>
                  <a:pt x="45828" y="94783"/>
                </a:moveTo>
                <a:lnTo>
                  <a:pt x="39527" y="100239"/>
                </a:lnTo>
                <a:cubicBezTo>
                  <a:pt x="41250" y="102228"/>
                  <a:pt x="43810" y="103287"/>
                  <a:pt x="46434" y="103095"/>
                </a:cubicBezTo>
                <a:cubicBezTo>
                  <a:pt x="49059" y="102904"/>
                  <a:pt x="51438" y="101484"/>
                  <a:pt x="52854" y="99266"/>
                </a:cubicBezTo>
                <a:lnTo>
                  <a:pt x="45828" y="94783"/>
                </a:lnTo>
                <a:close/>
                <a:moveTo>
                  <a:pt x="6303" y="36412"/>
                </a:moveTo>
                <a:cubicBezTo>
                  <a:pt x="3290" y="32932"/>
                  <a:pt x="-1974" y="32554"/>
                  <a:pt x="-5453" y="35567"/>
                </a:cubicBezTo>
                <a:cubicBezTo>
                  <a:pt x="-8933" y="38581"/>
                  <a:pt x="-9311" y="43844"/>
                  <a:pt x="-6297" y="47324"/>
                </a:cubicBezTo>
                <a:lnTo>
                  <a:pt x="3" y="41868"/>
                </a:lnTo>
                <a:lnTo>
                  <a:pt x="6303" y="36412"/>
                </a:lnTo>
                <a:close/>
                <a:moveTo>
                  <a:pt x="113331" y="4483"/>
                </a:moveTo>
                <a:cubicBezTo>
                  <a:pt x="115807" y="603"/>
                  <a:pt x="114668" y="-4550"/>
                  <a:pt x="110788" y="-7026"/>
                </a:cubicBezTo>
                <a:cubicBezTo>
                  <a:pt x="106907" y="-9502"/>
                  <a:pt x="101755" y="-8363"/>
                  <a:pt x="99279" y="-4483"/>
                </a:cubicBezTo>
                <a:lnTo>
                  <a:pt x="106305" y="0"/>
                </a:lnTo>
                <a:lnTo>
                  <a:pt x="113331" y="4483"/>
                </a:lnTo>
                <a:close/>
                <a:moveTo>
                  <a:pt x="45828" y="94783"/>
                </a:moveTo>
                <a:lnTo>
                  <a:pt x="52128" y="89327"/>
                </a:lnTo>
                <a:lnTo>
                  <a:pt x="6303" y="36412"/>
                </a:lnTo>
                <a:lnTo>
                  <a:pt x="3" y="41868"/>
                </a:lnTo>
                <a:lnTo>
                  <a:pt x="-6297" y="47324"/>
                </a:lnTo>
                <a:lnTo>
                  <a:pt x="39527" y="100239"/>
                </a:lnTo>
                <a:lnTo>
                  <a:pt x="45828" y="94783"/>
                </a:lnTo>
                <a:close/>
                <a:moveTo>
                  <a:pt x="45828" y="94783"/>
                </a:moveTo>
                <a:lnTo>
                  <a:pt x="52854" y="99266"/>
                </a:lnTo>
                <a:lnTo>
                  <a:pt x="113331" y="4483"/>
                </a:lnTo>
                <a:lnTo>
                  <a:pt x="106305" y="0"/>
                </a:lnTo>
                <a:lnTo>
                  <a:pt x="99279" y="-4483"/>
                </a:lnTo>
                <a:lnTo>
                  <a:pt x="38802" y="90300"/>
                </a:lnTo>
                <a:lnTo>
                  <a:pt x="45828" y="9478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n406" descr="Check list item 1"/>
          <p:cNvSpPr txBox="1"/>
          <p:nvPr/>
        </p:nvSpPr>
        <p:spPr>
          <a:xfrm>
            <a:off x="7188200" y="2079625"/>
            <a:ext cx="1816100" cy="33655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0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Check list item 1</a:t>
            </a:r>
          </a:p>
        </p:txBody>
      </p:sp>
      <p:sp>
        <p:nvSpPr>
          <p:cNvPr id="5" name="n409"/>
          <p:cNvSpPr/>
          <p:nvPr/>
        </p:nvSpPr>
        <p:spPr>
          <a:xfrm>
            <a:off x="6731000" y="2705100"/>
            <a:ext cx="266700" cy="266700"/>
          </a:xfrm>
          <a:prstGeom prst="ellipse">
            <a:avLst/>
          </a:prstGeom>
          <a:solidFill>
            <a:srgbClr val="0E8E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n410"/>
          <p:cNvSpPr/>
          <p:nvPr/>
        </p:nvSpPr>
        <p:spPr>
          <a:xfrm>
            <a:off x="6807200" y="2790825"/>
            <a:ext cx="106305" cy="94783"/>
          </a:xfrm>
          <a:custGeom>
            <a:avLst/>
            <a:gdLst/>
            <a:ahLst/>
            <a:cxnLst/>
            <a:rect l="0" t="0" r="r" b="b"/>
            <a:pathLst>
              <a:path w="106305" h="94783" stroke="0" extrusionOk="0">
                <a:moveTo>
                  <a:pt x="45828" y="94783"/>
                </a:moveTo>
                <a:lnTo>
                  <a:pt x="39527" y="100239"/>
                </a:lnTo>
                <a:cubicBezTo>
                  <a:pt x="41250" y="102228"/>
                  <a:pt x="43810" y="103287"/>
                  <a:pt x="46434" y="103095"/>
                </a:cubicBezTo>
                <a:cubicBezTo>
                  <a:pt x="49059" y="102904"/>
                  <a:pt x="51438" y="101484"/>
                  <a:pt x="52854" y="99266"/>
                </a:cubicBezTo>
                <a:lnTo>
                  <a:pt x="45828" y="94783"/>
                </a:lnTo>
                <a:close/>
                <a:moveTo>
                  <a:pt x="6303" y="36412"/>
                </a:moveTo>
                <a:cubicBezTo>
                  <a:pt x="3290" y="32932"/>
                  <a:pt x="-1974" y="32554"/>
                  <a:pt x="-5453" y="35567"/>
                </a:cubicBezTo>
                <a:cubicBezTo>
                  <a:pt x="-8933" y="38581"/>
                  <a:pt x="-9311" y="43844"/>
                  <a:pt x="-6297" y="47324"/>
                </a:cubicBezTo>
                <a:lnTo>
                  <a:pt x="3" y="41868"/>
                </a:lnTo>
                <a:lnTo>
                  <a:pt x="6303" y="36412"/>
                </a:lnTo>
                <a:close/>
                <a:moveTo>
                  <a:pt x="113331" y="4483"/>
                </a:moveTo>
                <a:cubicBezTo>
                  <a:pt x="115807" y="603"/>
                  <a:pt x="114668" y="-4550"/>
                  <a:pt x="110788" y="-7026"/>
                </a:cubicBezTo>
                <a:cubicBezTo>
                  <a:pt x="106907" y="-9502"/>
                  <a:pt x="101755" y="-8363"/>
                  <a:pt x="99279" y="-4483"/>
                </a:cubicBezTo>
                <a:lnTo>
                  <a:pt x="106305" y="0"/>
                </a:lnTo>
                <a:lnTo>
                  <a:pt x="113331" y="4483"/>
                </a:lnTo>
                <a:close/>
                <a:moveTo>
                  <a:pt x="45828" y="94783"/>
                </a:moveTo>
                <a:lnTo>
                  <a:pt x="52128" y="89327"/>
                </a:lnTo>
                <a:lnTo>
                  <a:pt x="6303" y="36412"/>
                </a:lnTo>
                <a:lnTo>
                  <a:pt x="3" y="41868"/>
                </a:lnTo>
                <a:lnTo>
                  <a:pt x="-6297" y="47324"/>
                </a:lnTo>
                <a:lnTo>
                  <a:pt x="39527" y="100239"/>
                </a:lnTo>
                <a:lnTo>
                  <a:pt x="45828" y="94783"/>
                </a:lnTo>
                <a:close/>
                <a:moveTo>
                  <a:pt x="45828" y="94783"/>
                </a:moveTo>
                <a:lnTo>
                  <a:pt x="52854" y="99266"/>
                </a:lnTo>
                <a:lnTo>
                  <a:pt x="113331" y="4483"/>
                </a:lnTo>
                <a:lnTo>
                  <a:pt x="106305" y="0"/>
                </a:lnTo>
                <a:lnTo>
                  <a:pt x="99279" y="-4483"/>
                </a:lnTo>
                <a:lnTo>
                  <a:pt x="38802" y="90300"/>
                </a:lnTo>
                <a:lnTo>
                  <a:pt x="45828" y="9478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n411" descr="Check list item 2"/>
          <p:cNvSpPr txBox="1"/>
          <p:nvPr/>
        </p:nvSpPr>
        <p:spPr>
          <a:xfrm>
            <a:off x="7188200" y="2670175"/>
            <a:ext cx="1816100" cy="33655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0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Check list item 2</a:t>
            </a:r>
          </a:p>
        </p:txBody>
      </p:sp>
      <p:sp>
        <p:nvSpPr>
          <p:cNvPr id="8" name="n414"/>
          <p:cNvSpPr/>
          <p:nvPr/>
        </p:nvSpPr>
        <p:spPr>
          <a:xfrm>
            <a:off x="6731000" y="3295650"/>
            <a:ext cx="266700" cy="266700"/>
          </a:xfrm>
          <a:prstGeom prst="ellipse">
            <a:avLst/>
          </a:prstGeom>
          <a:noFill/>
          <a:ln w="1270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n415" descr="Check list item 3"/>
          <p:cNvSpPr txBox="1"/>
          <p:nvPr/>
        </p:nvSpPr>
        <p:spPr>
          <a:xfrm>
            <a:off x="7188200" y="3260725"/>
            <a:ext cx="1816100" cy="33655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0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Check list item 3</a:t>
            </a:r>
          </a:p>
        </p:txBody>
      </p:sp>
      <p:sp>
        <p:nvSpPr>
          <p:cNvPr id="10" name="n418"/>
          <p:cNvSpPr/>
          <p:nvPr/>
        </p:nvSpPr>
        <p:spPr>
          <a:xfrm>
            <a:off x="6731000" y="3886200"/>
            <a:ext cx="266700" cy="266700"/>
          </a:xfrm>
          <a:prstGeom prst="ellipse">
            <a:avLst/>
          </a:prstGeom>
          <a:noFill/>
          <a:ln w="1270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n419" descr="Check list item 4"/>
          <p:cNvSpPr txBox="1"/>
          <p:nvPr/>
        </p:nvSpPr>
        <p:spPr>
          <a:xfrm>
            <a:off x="7188200" y="3851275"/>
            <a:ext cx="1816100" cy="33655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0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Check list item 4</a:t>
            </a:r>
          </a:p>
        </p:txBody>
      </p:sp>
      <p:sp>
        <p:nvSpPr>
          <p:cNvPr id="12" name="n422"/>
          <p:cNvSpPr/>
          <p:nvPr/>
        </p:nvSpPr>
        <p:spPr>
          <a:xfrm>
            <a:off x="6731000" y="4476750"/>
            <a:ext cx="266700" cy="266700"/>
          </a:xfrm>
          <a:prstGeom prst="ellipse">
            <a:avLst/>
          </a:prstGeom>
          <a:noFill/>
          <a:ln w="1270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n423" descr="Check list item 5"/>
          <p:cNvSpPr txBox="1"/>
          <p:nvPr/>
        </p:nvSpPr>
        <p:spPr>
          <a:xfrm>
            <a:off x="7188200" y="4441825"/>
            <a:ext cx="1816100" cy="336550"/>
          </a:xfrm>
          <a:prstGeom prst="rect">
            <a:avLst/>
          </a:prstGeom>
          <a:noFill/>
          <a:effectLst/>
        </p:spPr>
        <p:txBody>
          <a:bodyPr wrap="none" anchor="t" lIns="0" rIns="0" bIns="0" tIns="-438" vertOverflow="overflow" horzOverflow="overflow">
            <a:noAutofit/>
          </a:bodyPr>
          <a:lstStyle/>
          <a:p>
            <a:pPr algn="l" marL="0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spc="0" kern="0" lang="ru">
                <a:solidFill>
                  <a:srgbClr val="000000"/>
                </a:solidFill>
                <a:latin typeface="Source Sans Pro"/>
                <a:ea typeface="Source Sans Pro"/>
                <a:cs typeface="Source Sans Pro"/>
              </a:rPr>
              <a:t>Check list item 5</a:t>
            </a:r>
          </a:p>
        </p:txBody>
      </p:sp>
      <p:sp>
        <p:nvSpPr>
          <p:cNvPr id="14" name="n424" descr="SECTION NAME"/>
          <p:cNvSpPr txBox="1"/>
          <p:nvPr/>
        </p:nvSpPr>
        <p:spPr>
          <a:xfrm>
            <a:off x="635000" y="508000"/>
            <a:ext cx="457200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SECTION NAME</a:t>
            </a:r>
          </a:p>
        </p:txBody>
      </p:sp>
      <p:sp>
        <p:nvSpPr>
          <p:cNvPr id="15" name="n426" descr="A triangle whose three sides are equal, is said to be equilateral."/>
          <p:cNvSpPr txBox="1"/>
          <p:nvPr/>
        </p:nvSpPr>
        <p:spPr>
          <a:xfrm>
            <a:off x="635000" y="1933575"/>
            <a:ext cx="4826000" cy="1581150"/>
          </a:xfrm>
          <a:prstGeom prst="rect">
            <a:avLst/>
          </a:prstGeom>
          <a:noFill/>
          <a:effectLst/>
        </p:spPr>
        <p:txBody>
          <a:bodyPr wrap="none" anchor="t" lIns="0" rIns="0" bIns="0" tIns="-40284" vertOverflow="overflow" horzOverflow="overflow">
            <a:noAutofit/>
          </a:bodyPr>
          <a:lstStyle/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A triangle whose three</a:t>
            </a:r>
          </a:p>
          <a:p>
            <a:pPr algn="l" marL="0">
              <a:lnSpc>
                <a:spcPts val="4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sides are equal, is said to be</a:t>
            </a:r>
          </a:p>
          <a:p>
            <a:pPr algn="l" marL="0">
              <a:lnSpc>
                <a:spcPts val="41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spc="-7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equilateral.</a:t>
            </a:r>
          </a:p>
        </p:txBody>
      </p:sp>
      <p:sp>
        <p:nvSpPr>
          <p:cNvPr id="16" name="n427" descr="Longer description of slide content. Typically used to provide extra context or nuance to slides. A good description ensures slides can be consumed async without a live presentation."/>
          <p:cNvSpPr txBox="1"/>
          <p:nvPr/>
        </p:nvSpPr>
        <p:spPr>
          <a:xfrm>
            <a:off x="635000" y="3705225"/>
            <a:ext cx="4826000" cy="1219200"/>
          </a:xfrm>
          <a:prstGeom prst="rect">
            <a:avLst/>
          </a:prstGeom>
          <a:noFill/>
          <a:effectLst/>
        </p:spPr>
        <p:txBody>
          <a:bodyPr wrap="none" anchor="t" lIns="0" rIns="0" bIns="0" tIns="24613" vertOverflow="overflow" horzOverflow="overflow">
            <a:noAutofit/>
          </a:bodyPr>
          <a:lstStyle/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Longer description of slide content. Typically used to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provide extra context or nuance to slides. A good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description ensures slides can be consumed async</a:t>
            </a:r>
          </a:p>
          <a:p>
            <a:pPr algn="l" marL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spc="0" kern="0" lang="ru">
                <a:solidFill>
                  <a:srgbClr val="000000">
                    <a:alpha val="50000"/>
                  </a:srgbClr>
                </a:solidFill>
                <a:latin typeface="Source Sans Pro"/>
                <a:ea typeface="Source Sans Pro"/>
                <a:cs typeface="Source Sans Pro"/>
              </a:rPr>
              <a:t>without a live presentation.</a:t>
            </a:r>
          </a:p>
        </p:txBody>
      </p:sp>
      <p:cxnSp>
        <p:nvCxnSpPr>
          <p:cNvPr id="17" name="n428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19050">
            <a:solidFill>
              <a:srgbClr val="88888C">
                <a:alpha val="30000"/>
              </a:srgbClr>
            </a:solidFill>
          </a:ln>
          <a:effectLst/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7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431" descr="26 JUNE 2024"/>
          <p:cNvSpPr txBox="1"/>
          <p:nvPr/>
        </p:nvSpPr>
        <p:spPr>
          <a:xfrm>
            <a:off x="635000" y="508000"/>
            <a:ext cx="1035050" cy="222250"/>
          </a:xfrm>
          <a:prstGeom prst="rect">
            <a:avLst/>
          </a:prstGeom>
          <a:noFill/>
          <a:effectLst/>
        </p:spPr>
        <p:txBody>
          <a:bodyPr wrap="none" anchor="t" lIns="0" rIns="0" bIns="0" tIns="-1880" vertOverflow="overflow" horzOverflow="overflow">
            <a:noAutofit/>
          </a:bodyPr>
          <a:lstStyle/>
          <a:p>
            <a:pPr algn="l" marL="0">
              <a:lnSpc>
                <a:spcPts val="17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spc="0" kern="0" lang="ru">
                <a:solidFill>
                  <a:srgbClr val="888278"/>
                </a:solidFill>
                <a:latin typeface="Source Sans Pro Semibold"/>
                <a:ea typeface="Source Sans Pro Semibold"/>
                <a:cs typeface="Source Sans Pro Semibold"/>
              </a:rPr>
              <a:t>26 JUNE 2024</a:t>
            </a:r>
          </a:p>
        </p:txBody>
      </p:sp>
      <p:sp>
        <p:nvSpPr>
          <p:cNvPr id="3" name="n432" descr="Q. E. D."/>
          <p:cNvSpPr txBox="1"/>
          <p:nvPr/>
        </p:nvSpPr>
        <p:spPr>
          <a:xfrm>
            <a:off x="1962150" y="2895600"/>
            <a:ext cx="8274050" cy="1066800"/>
          </a:xfrm>
          <a:prstGeom prst="rect">
            <a:avLst/>
          </a:prstGeom>
          <a:noFill/>
          <a:effectLst/>
        </p:spPr>
        <p:txBody>
          <a:bodyPr wrap="none" anchor="t" lIns="0" rIns="0" bIns="0" tIns="-129794" vertOverflow="overflow" horzOverflow="overflow">
            <a:noAutofit/>
          </a:bodyPr>
          <a:lstStyle/>
          <a:p>
            <a:pPr algn="ctr" marL="0">
              <a:lnSpc>
                <a:spcPts val="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0" b="0" i="0" spc="0" kern="0" lang="ru">
                <a:solidFill>
                  <a:srgbClr val="000000"/>
                </a:solidFill>
                <a:latin typeface="Source Serif Pro"/>
                <a:ea typeface="Source Serif Pro"/>
                <a:cs typeface="Source Serif Pro"/>
              </a:rPr>
              <a:t>Q. E. 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clidean">
  <a:themeElements>
    <a:clrScheme name="Euclidean">
      <a:dk1>
        <a:srgbClr val="16161D"/>
      </a:dk1>
      <a:lt1>
        <a:srgbClr val="FCF7E9"/>
      </a:lt1>
      <a:dk2>
        <a:srgbClr val="88888C"/>
      </a:dk2>
      <a:lt2>
        <a:srgbClr val="FEFBF4"/>
      </a:lt2>
      <a:accent1>
        <a:srgbClr val="D42A20"/>
      </a:accent1>
      <a:accent2>
        <a:srgbClr val="0E638E"/>
      </a:accent2>
      <a:accent3>
        <a:srgbClr val="0E8E51"/>
      </a:accent3>
      <a:accent4>
        <a:srgbClr val="FAC22B"/>
      </a:accent4>
      <a:accent5>
        <a:srgbClr val="E77625"/>
      </a:accent5>
      <a:accent6>
        <a:srgbClr val="67378D"/>
      </a:accent6>
      <a:hlink>
        <a:srgbClr val="0E638E"/>
      </a:hlink>
      <a:folHlink>
        <a:srgbClr val="67378D"/>
      </a:folHlink>
    </a:clrScheme>
    <a:fontScheme name="Euclidean">
      <a:majorFont>
        <a:latin typeface="Source Serif Pro"/>
        <a:ea typeface="Source Serif Pro"/>
        <a:cs typeface="Source Serif Pro"/>
      </a:majorFont>
      <a:minorFont>
        <a:latin typeface="Source Sans Pro"/>
        <a:ea typeface="Source Sans Pro"/>
        <a:cs typeface="Source Sans Pro"/>
      </a:minorFont>
    </a:fontScheme>
    <a:fmtScheme name="Euclidea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Euclidean — исходные композиции</dc:title>
  <dc:subject>Euclidean; Mode: research</dc:subject>
  <dc:creator>Presentation generator</dc:creator>
  <cp:keywords>DEMO, PLACEHOLDER, NOT APPROVED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</dc:language>
</cp:coreProperties>
</file>